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C5E"/>
    <a:srgbClr val="E67E22"/>
    <a:srgbClr val="FF3300"/>
    <a:srgbClr val="46B1E1"/>
    <a:srgbClr val="F5F7FA"/>
    <a:srgbClr val="2C3E50"/>
    <a:srgbClr val="891576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7935-B8EA-0A83-1C7A-D674DE09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7CC5E-5F49-3BE1-53C9-F38A90457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28EA-F13C-AF81-1CF3-0716CFDE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7798-61D9-1CCA-AEFA-603BDE79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29F71-F6FD-09DE-DA16-7573617A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2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90D7-BB22-E881-0BB2-3F3BC7EF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1106-F146-4DA0-EA51-0A34ACDC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5E086-E15F-8D39-F5A7-50C5F51A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467F-DAD9-EA0E-8F13-7D85502D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864D-2720-1EBE-4F3D-7519D8AA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3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DD7A-FAB3-FC43-B450-478BCF3B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2E4C6-8FC6-0099-CD57-3A3549F4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60809-558F-93DE-23CE-89A7ED4F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6E43-A2BF-4809-139B-076998B1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9CE4-2F82-CE37-A027-785EEE70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4093-FC90-2BBA-5AD8-A7C9538C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06D6D-D999-65BD-13C6-58F4D6F3D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BEDDB-0122-7228-2DF1-B20B68057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9AAB1-2B44-0931-C33B-E5CC19FB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940B8-B15B-010C-964C-DEBFA92C0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2481C-E56B-62AF-388C-75DECB79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8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7EF3-7731-FB52-C3B7-C4E7FF91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C7B8E-EA84-40F0-1001-95471467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B27D3-238A-E98D-0649-D80DE6723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AB5C1-1799-A41A-D1B4-E250ECDA0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1D480-E7BF-B31A-E6DA-0CD1B8458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7DE64-3931-0235-0190-CE0E6B51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C2FFD-F582-AC9A-16DB-109F4275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D562B-0A35-A7C9-2C36-1A9870B0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8ECB-5588-B15C-9C4A-97C1F12C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13814-728C-78CB-1B48-E9042375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0048A-3178-CBCC-3F0D-C3FA2BB3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2BDBB-BCFC-3944-7F77-FB774D06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6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4C4E9-F4AF-4242-58A7-C938F55F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DA011-B15B-0C85-E7BC-511925E9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49801-91F1-97C2-CC84-BFD626AC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E88D-C914-7D7B-D899-DD1DD098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066A2-11E7-A0DD-513D-C2ADCE70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B6580-93D1-D215-7716-AF9CF9CE6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331ED-9869-CCC4-4940-1B3F8B41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1810-B33E-593C-4169-DFD0456E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B1D-0EA5-DF84-64C4-CB17422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606E-7F01-EBDC-4245-5B5C726F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E90F7C-3304-18E1-0597-6D0234273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C7B91-9E2B-306A-38F6-FFBBE068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0C7FC-2020-804A-652B-368686C3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2F958-914D-CC14-91EA-CFAADDB4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4EF71-A07E-BDE8-40AC-3CBD479C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85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43B3-C172-537B-9DF5-D8A7B58E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0DD08-9344-F020-2E75-9AECDDA0A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88F8D-22FD-EE99-B468-ECEAA0F9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5AA6-38E8-FE21-8869-33154FFC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BFB7-B626-CB50-3883-EC72937CF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5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BB455-942C-3A0D-E848-33CE752CD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D2782-4DC2-C8ED-0113-68E916482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914F-8982-6B56-DC0E-B78818E0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4F78B-A58D-9381-4179-58B7F655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A8445-72F1-8C55-E183-BC565D1C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8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FD51B-E00B-FCF9-8C69-20DE8B60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1446C-5BA1-A7E6-66CF-C6A2B3A21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D8DF3-C170-6293-FDF7-B95D37EA1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25C3A-9F60-D282-4577-9BB8B0067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55AB4-6EAF-A251-4A4F-6044D396B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D213-6FB6-FBF6-A95D-4B29F6FFA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079" y="1505173"/>
            <a:ext cx="9755841" cy="2125854"/>
          </a:xfr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Final Assessment</a:t>
            </a:r>
            <a: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b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Software Testing QA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0EC82-D432-9494-2C83-1FB524181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A3D5B0-A44D-C8A3-0DAD-784ED7E3BBF5}"/>
              </a:ext>
            </a:extLst>
          </p:cNvPr>
          <p:cNvSpPr txBox="1"/>
          <p:nvPr/>
        </p:nvSpPr>
        <p:spPr>
          <a:xfrm>
            <a:off x="3086985" y="3859626"/>
            <a:ext cx="6018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1A3C5E"/>
                </a:solidFill>
              </a:rPr>
              <a:t>Prepared By: Zaid Alabed</a:t>
            </a:r>
          </a:p>
          <a:p>
            <a:pPr algn="ctr"/>
            <a:r>
              <a:rPr lang="en-US" sz="3200" dirty="0">
                <a:solidFill>
                  <a:srgbClr val="1A3C5E"/>
                </a:solidFill>
              </a:rPr>
              <a:t>Instructor: </a:t>
            </a:r>
            <a:r>
              <a:rPr lang="en-US" sz="3200" dirty="0" err="1">
                <a:solidFill>
                  <a:srgbClr val="1A3C5E"/>
                </a:solidFill>
              </a:rPr>
              <a:t>Dr.Ashraf</a:t>
            </a:r>
            <a:r>
              <a:rPr lang="en-US" sz="3200" dirty="0">
                <a:solidFill>
                  <a:srgbClr val="1A3C5E"/>
                </a:solidFill>
              </a:rPr>
              <a:t> Smadi</a:t>
            </a:r>
          </a:p>
        </p:txBody>
      </p:sp>
    </p:spTree>
    <p:extLst>
      <p:ext uri="{BB962C8B-B14F-4D97-AF65-F5344CB8AC3E}">
        <p14:creationId xmlns:p14="http://schemas.microsoft.com/office/powerpoint/2010/main" val="3130593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F3482-E7BA-E548-60F5-D97544D0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C381-5E69-8697-5B06-2D975675F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20925" y="214278"/>
            <a:ext cx="5237004" cy="1062598"/>
          </a:xfrm>
          <a:noFill/>
        </p:spPr>
        <p:txBody>
          <a:bodyPr>
            <a:normAutofit/>
          </a:bodyPr>
          <a:lstStyle/>
          <a:p>
            <a:r>
              <a:rPr lang="en-US" sz="45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Agenda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32B4B-72B6-4CFF-3040-4AC873EB7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E47F5-6F05-0332-45DC-149CD4FED5FD}"/>
              </a:ext>
            </a:extLst>
          </p:cNvPr>
          <p:cNvSpPr txBox="1"/>
          <p:nvPr/>
        </p:nvSpPr>
        <p:spPr>
          <a:xfrm>
            <a:off x="1139754" y="1867034"/>
            <a:ext cx="10120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3C5E"/>
                </a:solidFill>
              </a:rPr>
              <a:t>Manual Testing</a:t>
            </a:r>
          </a:p>
          <a:p>
            <a:endParaRPr lang="en-US" sz="3200" dirty="0">
              <a:solidFill>
                <a:srgbClr val="1A3C5E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3C5E"/>
                </a:solidFill>
              </a:rPr>
              <a:t>API Automation</a:t>
            </a:r>
          </a:p>
          <a:p>
            <a:endParaRPr lang="en-US" sz="3200" dirty="0">
              <a:solidFill>
                <a:srgbClr val="1A3C5E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3C5E"/>
                </a:solidFill>
              </a:rPr>
              <a:t>Performance testing using k6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3C5E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UI Automation ( Selenium )</a:t>
            </a:r>
            <a:endParaRPr lang="en-US" sz="3200" dirty="0">
              <a:solidFill>
                <a:srgbClr val="1A3C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45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AAB03-DB67-FB93-B526-089BF13D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7139-D2D8-7B55-AB25-C34BC8AA3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79" y="214278"/>
            <a:ext cx="5001540" cy="1062598"/>
          </a:xfrm>
          <a:noFill/>
        </p:spPr>
        <p:txBody>
          <a:bodyPr>
            <a:normAutofit/>
          </a:bodyPr>
          <a:lstStyle/>
          <a:p>
            <a:r>
              <a:rPr lang="en-US" sz="45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Manual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DD777-34FE-E8ED-EFA0-86A358635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A01AC4-E7F6-A98C-2A5C-0779A40577AC}"/>
              </a:ext>
            </a:extLst>
          </p:cNvPr>
          <p:cNvSpPr/>
          <p:nvPr/>
        </p:nvSpPr>
        <p:spPr>
          <a:xfrm>
            <a:off x="2615606" y="1860698"/>
            <a:ext cx="7070651" cy="13184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Total Executed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20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13592-C9E4-5BD3-D7C1-ED47111C1C83}"/>
              </a:ext>
            </a:extLst>
          </p:cNvPr>
          <p:cNvSpPr/>
          <p:nvPr/>
        </p:nvSpPr>
        <p:spPr>
          <a:xfrm>
            <a:off x="2615605" y="3331536"/>
            <a:ext cx="7070651" cy="1219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12</a:t>
            </a:r>
            <a:r>
              <a:rPr lang="en-US" sz="4000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Passed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4B1D1E-9E61-E63C-A733-F5FCC4130630}"/>
              </a:ext>
            </a:extLst>
          </p:cNvPr>
          <p:cNvSpPr/>
          <p:nvPr/>
        </p:nvSpPr>
        <p:spPr>
          <a:xfrm>
            <a:off x="2615605" y="4703137"/>
            <a:ext cx="7070651" cy="1219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8</a:t>
            </a:r>
            <a:r>
              <a:rPr lang="en-US" sz="4000" dirty="0">
                <a:solidFill>
                  <a:schemeClr val="tx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Failed</a:t>
            </a:r>
          </a:p>
        </p:txBody>
      </p:sp>
    </p:spTree>
    <p:extLst>
      <p:ext uri="{BB962C8B-B14F-4D97-AF65-F5344CB8AC3E}">
        <p14:creationId xmlns:p14="http://schemas.microsoft.com/office/powerpoint/2010/main" val="869732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A89C2-7834-E1A7-C7DB-11FB3F94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5B62-7C70-26DE-85DD-A96BB1307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78" y="214278"/>
            <a:ext cx="5416209" cy="1062598"/>
          </a:xfrm>
          <a:noFill/>
        </p:spPr>
        <p:txBody>
          <a:bodyPr>
            <a:normAutofit fontScale="90000"/>
          </a:bodyPr>
          <a:lstStyle/>
          <a:p>
            <a:r>
              <a:rPr lang="en-US" sz="45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Automation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714EB-E186-10E8-AC2C-FC78B3041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2EF17B-FC3F-843F-71B3-752423A1C736}"/>
              </a:ext>
            </a:extLst>
          </p:cNvPr>
          <p:cNvSpPr/>
          <p:nvPr/>
        </p:nvSpPr>
        <p:spPr>
          <a:xfrm>
            <a:off x="1263154" y="1562986"/>
            <a:ext cx="3349255" cy="1520455"/>
          </a:xfrm>
          <a:prstGeom prst="roundRect">
            <a:avLst/>
          </a:prstGeom>
          <a:solidFill>
            <a:srgbClr val="E67E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UI Automation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60094C-9D81-4703-ED7A-FD875BBA8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63" y="2312579"/>
            <a:ext cx="632101" cy="632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FC3955-F566-1DD7-61EA-EDF28E6B8B6E}"/>
              </a:ext>
            </a:extLst>
          </p:cNvPr>
          <p:cNvSpPr/>
          <p:nvPr/>
        </p:nvSpPr>
        <p:spPr>
          <a:xfrm>
            <a:off x="7176808" y="1562985"/>
            <a:ext cx="3349255" cy="152045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API Automation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D6D337-40C3-C0A2-145D-676F245A9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004" y="2339831"/>
            <a:ext cx="598861" cy="5988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AD479F-D850-6A25-5348-5081EADF8EF9}"/>
              </a:ext>
            </a:extLst>
          </p:cNvPr>
          <p:cNvSpPr txBox="1"/>
          <p:nvPr/>
        </p:nvSpPr>
        <p:spPr>
          <a:xfrm>
            <a:off x="584791" y="3327991"/>
            <a:ext cx="5061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Scope: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Automated critical user stories Like Login, Add to Cart and Checkout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07BA4-A163-D55E-5537-64AAEC0FAEB0}"/>
              </a:ext>
            </a:extLst>
          </p:cNvPr>
          <p:cNvSpPr txBox="1"/>
          <p:nvPr/>
        </p:nvSpPr>
        <p:spPr>
          <a:xfrm>
            <a:off x="744279" y="4178596"/>
            <a:ext cx="4731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Goal: 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Verify functionality across different browsers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2D4C9C-99C2-A84E-3123-367470A3EAEE}"/>
              </a:ext>
            </a:extLst>
          </p:cNvPr>
          <p:cNvSpPr txBox="1"/>
          <p:nvPr/>
        </p:nvSpPr>
        <p:spPr>
          <a:xfrm>
            <a:off x="744279" y="5029201"/>
            <a:ext cx="48059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Total Scenarios: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20</a:t>
            </a:r>
            <a:br>
              <a:rPr lang="en-US" sz="2200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sz="22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Happy Paths (</a:t>
            </a:r>
            <a:r>
              <a:rPr lang="en-US" sz="2200" b="1" dirty="0" err="1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standard_user</a:t>
            </a:r>
            <a:r>
              <a:rPr lang="en-US" sz="22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):</a:t>
            </a:r>
            <a:r>
              <a:rPr lang="en-US" sz="2200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12</a:t>
            </a:r>
            <a:br>
              <a:rPr lang="en-US" sz="2200"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sz="2200" b="1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Negative Paths(</a:t>
            </a:r>
            <a:r>
              <a:rPr lang="en-US" sz="2200" b="1" dirty="0" err="1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problem_user</a:t>
            </a:r>
            <a:r>
              <a:rPr lang="en-US" sz="2200" b="1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):</a:t>
            </a:r>
            <a:r>
              <a:rPr lang="en-US" sz="2200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0AD7C-69C1-2B4A-EAC1-2DC6B7C2D86B}"/>
              </a:ext>
            </a:extLst>
          </p:cNvPr>
          <p:cNvSpPr txBox="1"/>
          <p:nvPr/>
        </p:nvSpPr>
        <p:spPr>
          <a:xfrm>
            <a:off x="6019800" y="3327990"/>
            <a:ext cx="60977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Scope: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Tested all CRUD operations (Get, Post, Put and Delete)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27AEED-C1AE-DF0B-A1E0-2D2AD0C3A5C9}"/>
              </a:ext>
            </a:extLst>
          </p:cNvPr>
          <p:cNvSpPr txBox="1"/>
          <p:nvPr/>
        </p:nvSpPr>
        <p:spPr>
          <a:xfrm>
            <a:off x="6094228" y="4217231"/>
            <a:ext cx="5762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Goal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: Ensure data integrity and correct status codes (200, 400 and 500)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29F7E-B536-5802-10A0-E189B5014ACF}"/>
              </a:ext>
            </a:extLst>
          </p:cNvPr>
          <p:cNvSpPr txBox="1"/>
          <p:nvPr/>
        </p:nvSpPr>
        <p:spPr>
          <a:xfrm>
            <a:off x="6492948" y="5245748"/>
            <a:ext cx="4965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Result:</a:t>
            </a:r>
            <a:r>
              <a:rPr lang="en-US" sz="22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10+ Assertions running in CI/CD (Newman) and 100% Pass rate (Postman)</a:t>
            </a:r>
          </a:p>
        </p:txBody>
      </p:sp>
    </p:spTree>
    <p:extLst>
      <p:ext uri="{BB962C8B-B14F-4D97-AF65-F5344CB8AC3E}">
        <p14:creationId xmlns:p14="http://schemas.microsoft.com/office/powerpoint/2010/main" val="3623401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88B72-2FB3-34C5-68BF-B4B44E20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11E9-CBB4-7F5F-EEB1-940C03E5E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16" y="214278"/>
            <a:ext cx="7410892" cy="1042776"/>
          </a:xfrm>
          <a:noFill/>
        </p:spPr>
        <p:txBody>
          <a:bodyPr>
            <a:normAutofit/>
          </a:bodyPr>
          <a:lstStyle/>
          <a:p>
            <a:r>
              <a:rPr lang="en-US" sz="45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Critical Defect Discovery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23DE8-538F-F499-9CD1-5FAD65FDA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D8A92-1EDD-493E-3E51-F29BE2F44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610" y="1513803"/>
            <a:ext cx="5430780" cy="32972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543F3B-F831-A65D-9747-4B1C1750D43F}"/>
              </a:ext>
            </a:extLst>
          </p:cNvPr>
          <p:cNvSpPr txBox="1"/>
          <p:nvPr/>
        </p:nvSpPr>
        <p:spPr>
          <a:xfrm>
            <a:off x="4013790" y="4996131"/>
            <a:ext cx="45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Defect ID: Bug-001 (Checkout Blocked)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4AA85-88CF-650F-3F5B-521E0BB83738}"/>
              </a:ext>
            </a:extLst>
          </p:cNvPr>
          <p:cNvSpPr txBox="1"/>
          <p:nvPr/>
        </p:nvSpPr>
        <p:spPr>
          <a:xfrm>
            <a:off x="2900028" y="5401340"/>
            <a:ext cx="6562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Severity bug</a:t>
            </a:r>
            <a:b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cannot process the payment</a:t>
            </a:r>
          </a:p>
        </p:txBody>
      </p:sp>
    </p:spTree>
    <p:extLst>
      <p:ext uri="{BB962C8B-B14F-4D97-AF65-F5344CB8AC3E}">
        <p14:creationId xmlns:p14="http://schemas.microsoft.com/office/powerpoint/2010/main" val="1782283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E9839-A133-290C-4D5D-DCEB8A77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C4D4C-0AED-776B-1808-28FF6103A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5795" y="53631"/>
            <a:ext cx="8420987" cy="1042776"/>
          </a:xfr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API Load Testing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5F6C4-759D-DDD8-849F-D822E43CD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CE5FE8-C5BF-9D8C-31F2-19ACC3609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14" y="1667867"/>
            <a:ext cx="7125904" cy="388383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C27146-7D6B-C621-8318-77C4DE03AC50}"/>
              </a:ext>
            </a:extLst>
          </p:cNvPr>
          <p:cNvSpPr txBox="1"/>
          <p:nvPr/>
        </p:nvSpPr>
        <p:spPr>
          <a:xfrm>
            <a:off x="369978" y="1942840"/>
            <a:ext cx="2254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Tool Used:</a:t>
            </a:r>
            <a:r>
              <a:rPr lang="en-US" sz="2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A0F93-5603-1375-687E-A45053A642E1}"/>
              </a:ext>
            </a:extLst>
          </p:cNvPr>
          <p:cNvSpPr txBox="1"/>
          <p:nvPr/>
        </p:nvSpPr>
        <p:spPr>
          <a:xfrm>
            <a:off x="369978" y="2415450"/>
            <a:ext cx="3976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Objective:</a:t>
            </a:r>
            <a:r>
              <a:rPr lang="en-US" sz="2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Assess system stability under high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95C8F-29CC-FDFB-BF65-F06F436D8612}"/>
              </a:ext>
            </a:extLst>
          </p:cNvPr>
          <p:cNvSpPr txBox="1"/>
          <p:nvPr/>
        </p:nvSpPr>
        <p:spPr>
          <a:xfrm>
            <a:off x="152400" y="1451702"/>
            <a:ext cx="3519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Test Scenario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C6985-29E6-87B9-FF2C-BF106B7883F3}"/>
              </a:ext>
            </a:extLst>
          </p:cNvPr>
          <p:cNvSpPr txBox="1"/>
          <p:nvPr/>
        </p:nvSpPr>
        <p:spPr>
          <a:xfrm>
            <a:off x="369978" y="3195837"/>
            <a:ext cx="39765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Configuration:</a:t>
            </a:r>
            <a:r>
              <a:rPr lang="en-US" sz="2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Simulated 20 Virtual Users (VUs) accessing the API concurrently for 30 seconds.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78E0F-6313-03CB-E077-A4159D72ED8A}"/>
              </a:ext>
            </a:extLst>
          </p:cNvPr>
          <p:cNvSpPr txBox="1"/>
          <p:nvPr/>
        </p:nvSpPr>
        <p:spPr>
          <a:xfrm>
            <a:off x="248784" y="4371984"/>
            <a:ext cx="2721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3C5E"/>
                </a:solidFill>
              </a:rPr>
              <a:t>Key Findings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14F85-C71F-2553-D7DC-0F559AA9FDF3}"/>
              </a:ext>
            </a:extLst>
          </p:cNvPr>
          <p:cNvSpPr txBox="1"/>
          <p:nvPr/>
        </p:nvSpPr>
        <p:spPr>
          <a:xfrm>
            <a:off x="369978" y="4892595"/>
            <a:ext cx="2802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Total requests: </a:t>
            </a:r>
            <a:r>
              <a:rPr lang="en-US" sz="2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240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36DB1-7CA6-09A5-CE19-53D60D04B95F}"/>
              </a:ext>
            </a:extLst>
          </p:cNvPr>
          <p:cNvSpPr txBox="1"/>
          <p:nvPr/>
        </p:nvSpPr>
        <p:spPr>
          <a:xfrm>
            <a:off x="369978" y="5351651"/>
            <a:ext cx="4370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Stability</a:t>
            </a:r>
            <a:r>
              <a:rPr lang="en-US" sz="20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:</a:t>
            </a:r>
            <a:r>
              <a:rPr lang="en-US" sz="2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Achieved a </a:t>
            </a:r>
            <a:r>
              <a:rPr lang="en-US" sz="20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0% Error Rate</a:t>
            </a:r>
            <a:endParaRPr lang="en-US" sz="20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0F389-D26B-A767-8A76-8B033CE8CB12}"/>
              </a:ext>
            </a:extLst>
          </p:cNvPr>
          <p:cNvSpPr txBox="1"/>
          <p:nvPr/>
        </p:nvSpPr>
        <p:spPr>
          <a:xfrm>
            <a:off x="369978" y="5838826"/>
            <a:ext cx="4153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Conclusion:</a:t>
            </a:r>
            <a:r>
              <a:rPr lang="en-US" sz="2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The API is stable and handled the load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135106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5E5AD-9366-0CA6-47E1-5FA78519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BEC8-85F2-A921-10AF-296E235B8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5889"/>
            <a:ext cx="8420987" cy="1042776"/>
          </a:xfr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Continuous Integration (CI/CD)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72E47-975E-C757-40D4-3B831876E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C5334C-1776-1F3A-90DD-B0430816E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32" y="2165654"/>
            <a:ext cx="5364603" cy="25445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62D12-2EF7-E3CD-BB8E-674FEB24B36D}"/>
              </a:ext>
            </a:extLst>
          </p:cNvPr>
          <p:cNvSpPr txBox="1"/>
          <p:nvPr/>
        </p:nvSpPr>
        <p:spPr>
          <a:xfrm>
            <a:off x="7501362" y="1585425"/>
            <a:ext cx="3519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Automated Safety Network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F296E-B9F9-223D-00B3-09BEFEBDE1CE}"/>
              </a:ext>
            </a:extLst>
          </p:cNvPr>
          <p:cNvSpPr txBox="1"/>
          <p:nvPr/>
        </p:nvSpPr>
        <p:spPr>
          <a:xfrm>
            <a:off x="536730" y="1785480"/>
            <a:ext cx="52489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This pipeline represents our automated safety network.</a:t>
            </a:r>
            <a:br>
              <a:rPr lang="en-US" sz="24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br>
              <a:rPr lang="en-US" sz="24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sz="24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By integrating GitHub Actions every code commit now triggers a comprehensive suite of API and UI tests automatically and this will ensure that new features are deployed rapidly without introducing regressions.</a:t>
            </a:r>
          </a:p>
        </p:txBody>
      </p:sp>
    </p:spTree>
    <p:extLst>
      <p:ext uri="{BB962C8B-B14F-4D97-AF65-F5344CB8AC3E}">
        <p14:creationId xmlns:p14="http://schemas.microsoft.com/office/powerpoint/2010/main" val="1104780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5248F-4DC2-DC8B-1D1B-FDDFE2B1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B2-0DB6-C041-E0EF-4EB5FE8CB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07" y="140516"/>
            <a:ext cx="8420987" cy="1042776"/>
          </a:xfr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Final Verdict &amp; Recommendation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21649-E568-FFD2-2852-2F70954F4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A52DCC-9E32-9FF6-2D44-CAED5C4C1E07}"/>
              </a:ext>
            </a:extLst>
          </p:cNvPr>
          <p:cNvSpPr/>
          <p:nvPr/>
        </p:nvSpPr>
        <p:spPr>
          <a:xfrm>
            <a:off x="1367026" y="1611819"/>
            <a:ext cx="3306725" cy="146729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 pitchFamily="2" charset="0"/>
                <a:ea typeface="Google Sans" pitchFamily="2" charset="0"/>
                <a:cs typeface="Google Sans" pitchFamily="2" charset="0"/>
              </a:rPr>
              <a:t>Frontend UI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E87150-6F7D-5241-9DA5-4F3B54135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519" y="2377364"/>
            <a:ext cx="545737" cy="5457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7059F2-F199-7350-9DA5-CA5436731102}"/>
              </a:ext>
            </a:extLst>
          </p:cNvPr>
          <p:cNvSpPr txBox="1"/>
          <p:nvPr/>
        </p:nvSpPr>
        <p:spPr>
          <a:xfrm>
            <a:off x="995215" y="3380049"/>
            <a:ext cx="41934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STATUS: </a:t>
            </a:r>
            <a:r>
              <a:rPr lang="en-US" sz="3000" b="1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NOT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3DFD4-144D-3170-6AC1-177B5768211D}"/>
              </a:ext>
            </a:extLst>
          </p:cNvPr>
          <p:cNvSpPr txBox="1"/>
          <p:nvPr/>
        </p:nvSpPr>
        <p:spPr>
          <a:xfrm>
            <a:off x="1367026" y="3979105"/>
            <a:ext cx="3417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Stability: </a:t>
            </a:r>
            <a:r>
              <a:rPr lang="en-US" sz="3000" b="1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Critical</a:t>
            </a:r>
            <a:endParaRPr lang="en-US" sz="3000" dirty="0">
              <a:solidFill>
                <a:srgbClr val="C00000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0D3C8-D312-6315-812D-FCDC23F1FFC7}"/>
              </a:ext>
            </a:extLst>
          </p:cNvPr>
          <p:cNvSpPr txBox="1"/>
          <p:nvPr/>
        </p:nvSpPr>
        <p:spPr>
          <a:xfrm>
            <a:off x="426728" y="4578161"/>
            <a:ext cx="56692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Biggest Blocker: </a:t>
            </a:r>
            <a:r>
              <a:rPr lang="en-US" sz="3000" b="1" dirty="0">
                <a:solidFill>
                  <a:srgbClr val="C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Checkout Bug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03A0D6-761B-5475-C3B6-4B6D73439DD0}"/>
              </a:ext>
            </a:extLst>
          </p:cNvPr>
          <p:cNvSpPr txBox="1"/>
          <p:nvPr/>
        </p:nvSpPr>
        <p:spPr>
          <a:xfrm>
            <a:off x="304107" y="5177217"/>
            <a:ext cx="5826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</a:rPr>
              <a:t>Decision (</a:t>
            </a:r>
            <a:r>
              <a:rPr lang="en-US" sz="3000" dirty="0" err="1">
                <a:solidFill>
                  <a:srgbClr val="1A3C5E"/>
                </a:solidFill>
              </a:rPr>
              <a:t>problem_user</a:t>
            </a:r>
            <a:r>
              <a:rPr lang="en-US" sz="3000" dirty="0">
                <a:solidFill>
                  <a:srgbClr val="1A3C5E"/>
                </a:solidFill>
              </a:rPr>
              <a:t>): </a:t>
            </a:r>
            <a:r>
              <a:rPr lang="en-US" sz="3000" b="1" dirty="0">
                <a:solidFill>
                  <a:srgbClr val="C00000"/>
                </a:solidFill>
              </a:rPr>
              <a:t>Hold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61120A-4324-2DF1-C5F9-201D3461D286}"/>
              </a:ext>
            </a:extLst>
          </p:cNvPr>
          <p:cNvSpPr/>
          <p:nvPr/>
        </p:nvSpPr>
        <p:spPr>
          <a:xfrm>
            <a:off x="7594852" y="1601186"/>
            <a:ext cx="3306725" cy="146729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Backend API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05F166-ABF8-7BE9-818E-D40466A0B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962" y="2334832"/>
            <a:ext cx="598861" cy="5988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BCE7A3-B12B-8010-2A10-5082872347C1}"/>
              </a:ext>
            </a:extLst>
          </p:cNvPr>
          <p:cNvSpPr txBox="1"/>
          <p:nvPr/>
        </p:nvSpPr>
        <p:spPr>
          <a:xfrm>
            <a:off x="7053655" y="3334991"/>
            <a:ext cx="41934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STATUS: </a:t>
            </a:r>
            <a:r>
              <a:rPr lang="en-US" sz="30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Ready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9B6AB8-2D74-2B3B-69E1-486980215516}"/>
              </a:ext>
            </a:extLst>
          </p:cNvPr>
          <p:cNvSpPr txBox="1"/>
          <p:nvPr/>
        </p:nvSpPr>
        <p:spPr>
          <a:xfrm>
            <a:off x="7425466" y="3934047"/>
            <a:ext cx="3417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Stability: </a:t>
            </a:r>
            <a:r>
              <a:rPr lang="en-US" sz="30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High</a:t>
            </a:r>
            <a:endParaRPr lang="en-US" sz="3000" dirty="0">
              <a:solidFill>
                <a:srgbClr val="00B050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11D78-E9CF-EDC1-726D-E16D93583C35}"/>
              </a:ext>
            </a:extLst>
          </p:cNvPr>
          <p:cNvSpPr txBox="1"/>
          <p:nvPr/>
        </p:nvSpPr>
        <p:spPr>
          <a:xfrm>
            <a:off x="6485168" y="4533103"/>
            <a:ext cx="55119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Automation: </a:t>
            </a:r>
            <a:r>
              <a:rPr lang="en-US" sz="30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A29D9-CDC4-E5D4-6AD6-38B72E4146D1}"/>
              </a:ext>
            </a:extLst>
          </p:cNvPr>
          <p:cNvSpPr txBox="1"/>
          <p:nvPr/>
        </p:nvSpPr>
        <p:spPr>
          <a:xfrm>
            <a:off x="6326035" y="5177217"/>
            <a:ext cx="5826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1A3C5E"/>
                </a:solidFill>
              </a:rPr>
              <a:t>Decision: </a:t>
            </a:r>
            <a:r>
              <a:rPr lang="en-US" sz="3000" b="1" dirty="0">
                <a:solidFill>
                  <a:srgbClr val="00B050"/>
                </a:solidFill>
              </a:rPr>
              <a:t>Go Live</a:t>
            </a:r>
            <a:endParaRPr lang="en-US" sz="3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57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6645A-8587-3C42-B7F4-E0B506C2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2DFC1-D569-C7C7-4042-F3A8F99AB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63" y="214278"/>
            <a:ext cx="1244872" cy="81774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8399086-880C-7FF1-7D24-360C8E1CA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0317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Thank You</a:t>
            </a:r>
            <a:b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lang="en-US" dirty="0">
                <a:solidFill>
                  <a:srgbClr val="1A3C5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603231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319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Office Theme</vt:lpstr>
      <vt:lpstr>Final Assessment  Software Testing QA</vt:lpstr>
      <vt:lpstr>Agenda</vt:lpstr>
      <vt:lpstr>Manual Testing</vt:lpstr>
      <vt:lpstr>Automation Testing</vt:lpstr>
      <vt:lpstr>Critical Defect Discovery</vt:lpstr>
      <vt:lpstr>API Load Testing Result</vt:lpstr>
      <vt:lpstr>Continuous Integration (CI/CD)</vt:lpstr>
      <vt:lpstr>Final Verdict &amp; Recommendation</vt:lpstr>
      <vt:lpstr>Thank You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 Alqaryouti</dc:creator>
  <cp:lastModifiedBy>Zaid Alqaryouti</cp:lastModifiedBy>
  <cp:revision>22</cp:revision>
  <dcterms:created xsi:type="dcterms:W3CDTF">2026-02-06T19:57:15Z</dcterms:created>
  <dcterms:modified xsi:type="dcterms:W3CDTF">2026-02-09T14:54:49Z</dcterms:modified>
</cp:coreProperties>
</file>